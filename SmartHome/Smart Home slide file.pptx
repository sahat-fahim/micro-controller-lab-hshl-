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4" r:id="rId5"/>
    <p:sldId id="266" r:id="rId6"/>
    <p:sldId id="267" r:id="rId7"/>
    <p:sldId id="268" r:id="rId8"/>
    <p:sldId id="269" r:id="rId9"/>
    <p:sldId id="270" r:id="rId10"/>
    <p:sldId id="261" r:id="rId11"/>
    <p:sldId id="262" r:id="rId12"/>
    <p:sldId id="258" r:id="rId13"/>
    <p:sldId id="259" r:id="rId14"/>
    <p:sldId id="272" r:id="rId15"/>
    <p:sldId id="263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95DAD-E5DC-448C-98C2-7096A22BBC67}" v="939" dt="2020-11-19T09:34:44.705"/>
    <p1510:client id="{28038AC3-E8A6-4E6A-A2E2-B251E5B69015}" v="325" dt="2020-11-19T10:23:58.849"/>
    <p1510:client id="{4F26DA3D-B2C1-4E62-884E-DA735DAECD31}" v="333" dt="2020-11-18T22:51:12.495"/>
    <p1510:client id="{7D3C1656-D2AD-470C-962F-DAD255E7D25A}" v="1214" dt="2020-11-18T22:54:32.027"/>
    <p1510:client id="{B327A7FF-BF66-4B85-B529-833E60F4B9CE}" v="2" dt="2020-11-19T00:01:33.164"/>
    <p1510:client id="{DE552A6B-E989-4899-989F-F8E9E207DAF7}" v="12" dt="2020-11-18T22:56:57.703"/>
    <p1510:client id="{E2376DD3-36F1-413F-97A7-6EC83FAE5CEC}" v="23" dt="2020-11-18T22:14:45.423"/>
    <p1510:client id="{E6045F2F-275C-47FB-83AA-269E7A36C1D5}" v="369" dt="2020-11-18T23:01:41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1" d="100"/>
          <a:sy n="61" d="100"/>
        </p:scale>
        <p:origin x="1065" y="10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959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50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8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8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6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1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8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9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5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25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0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clipart-library.com/" TargetMode="External"/><Relationship Id="rId3" Type="http://schemas.openxmlformats.org/officeDocument/2006/relationships/hyperlink" Target="https://www.androidauthority.com/what-is-a-smart-home-806483/" TargetMode="External"/><Relationship Id="rId7" Type="http://schemas.openxmlformats.org/officeDocument/2006/relationships/hyperlink" Target="https://www.ibm.com/blogs/internet-of-things/sensors-smart-home/" TargetMode="External"/><Relationship Id="rId2" Type="http://schemas.openxmlformats.org/officeDocument/2006/relationships/hyperlink" Target="https://www.investopedia.com/terms/s/smart-home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uespeedav.com/blog/item/7-greatest-advantages-of-smart-home-automation" TargetMode="External"/><Relationship Id="rId11" Type="http://schemas.openxmlformats.org/officeDocument/2006/relationships/hyperlink" Target="https://www.eotvoshaz.hu/" TargetMode="External"/><Relationship Id="rId5" Type="http://schemas.openxmlformats.org/officeDocument/2006/relationships/hyperlink" Target="https://www.homeridersystems.com/home-automation/what-is-the-risk-associated-with-smart-technology/" TargetMode="External"/><Relationship Id="rId10" Type="http://schemas.openxmlformats.org/officeDocument/2006/relationships/hyperlink" Target="https://www.carolinacountry.com/carolina-country-feed/7-install-a-smart-thermostat" TargetMode="External"/><Relationship Id="rId4" Type="http://schemas.openxmlformats.org/officeDocument/2006/relationships/hyperlink" Target="https://home.howstuffworks.com/smart-home.htm#pt3" TargetMode="External"/><Relationship Id="rId9" Type="http://schemas.openxmlformats.org/officeDocument/2006/relationships/hyperlink" Target="https://www.cleanpng.com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C5255-96B1-4CBB-A5B3-0BDA61BB8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38" r="-1" b="-1"/>
          <a:stretch/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35BC0-D48D-46C1-A428-7CBFAA6DD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/>
              <a:t>Smart Home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EF194-71A5-44F0-A13E-E399C4FAB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261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166F99FB-95E9-4E67-BCF1-FF362C7F5D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9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E29D9-8CED-41E3-88A1-F01E48D1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Autofit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3627-F872-4D89-8124-DC6F1F07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5625514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/>
              <a:t>What is a smart home?</a:t>
            </a:r>
          </a:p>
          <a:p>
            <a:pPr marL="0" indent="0">
              <a:buNone/>
            </a:pPr>
            <a:r>
              <a:rPr lang="en-US" sz="1700"/>
              <a:t>A smart home is a  home automation system that uses advanced technologies to operate household activities remotely and autonomously.  </a:t>
            </a:r>
            <a:r>
              <a:rPr lang="en-US" sz="1700" baseline="30000">
                <a:ea typeface="+mn-lt"/>
                <a:cs typeface="+mn-lt"/>
              </a:rPr>
              <a:t>1</a:t>
            </a:r>
            <a:endParaRPr lang="en-US" sz="1700">
              <a:ea typeface="+mn-lt"/>
              <a:cs typeface="+mn-lt"/>
            </a:endParaRPr>
          </a:p>
          <a:p>
            <a:pPr marL="0" indent="0">
              <a:buNone/>
            </a:pPr>
            <a:endParaRPr lang="en-US" sz="1700"/>
          </a:p>
          <a:p>
            <a:pPr marL="914400" lvl="2" indent="0">
              <a:buNone/>
            </a:pPr>
            <a:endParaRPr lang="en-US" sz="1700"/>
          </a:p>
          <a:p>
            <a:pPr marL="285750" indent="-285750"/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477950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7B352FC-1F44-4AB9-A2BD-FBF231C6B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indoor, kitchen, counter, table&#10;&#10;Description automatically generated">
            <a:extLst>
              <a:ext uri="{FF2B5EF4-FFF2-40B4-BE49-F238E27FC236}">
                <a16:creationId xmlns:a16="http://schemas.microsoft.com/office/drawing/2014/main" id="{FD2B1207-29B5-4B19-B378-34F22D8AE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6"/>
          <a:stretch/>
        </p:blipFill>
        <p:spPr>
          <a:xfrm>
            <a:off x="-2" y="-1"/>
            <a:ext cx="121920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4716089"/>
            <a:ext cx="6288261" cy="1573149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noFill/>
          </a:ln>
          <a:effectLst>
            <a:outerShdw blurRad="508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28FF1-2EC2-4959-93B9-8C91EB4D7D98}"/>
              </a:ext>
            </a:extLst>
          </p:cNvPr>
          <p:cNvSpPr txBox="1"/>
          <p:nvPr/>
        </p:nvSpPr>
        <p:spPr>
          <a:xfrm>
            <a:off x="845167" y="5141898"/>
            <a:ext cx="3278647" cy="13841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can a smart home do?</a:t>
            </a:r>
            <a:endParaRPr lang="en-US" sz="2600" baseline="300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600" baseline="30000"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6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5175711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28936" y="5498088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1C705-60F5-42DB-828C-92E2207B6666}"/>
              </a:ext>
            </a:extLst>
          </p:cNvPr>
          <p:cNvSpPr txBox="1"/>
          <p:nvPr/>
        </p:nvSpPr>
        <p:spPr>
          <a:xfrm>
            <a:off x="8225183" y="638092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[Anon 2020]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9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DA7B63-E941-414F-A123-9F65B298A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843" y="1647824"/>
            <a:ext cx="6945403" cy="46044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B462DF-7250-4010-816C-73B26F80026A}"/>
              </a:ext>
            </a:extLst>
          </p:cNvPr>
          <p:cNvSpPr txBox="1"/>
          <p:nvPr/>
        </p:nvSpPr>
        <p:spPr>
          <a:xfrm>
            <a:off x="3533776" y="530599"/>
            <a:ext cx="49955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NETWORKING AND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17501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E223281-1605-43B0-8FD6-21BFC5E0E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430" y="669486"/>
            <a:ext cx="8032375" cy="551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75F247D-210F-4F1E-9183-F50F2FD69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98" y="823072"/>
            <a:ext cx="1390650" cy="158115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7EEDF4D-095A-4458-B855-CD4F8EEBE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483" y="2089336"/>
            <a:ext cx="1323975" cy="158115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411BBEB-0173-4A26-A7BE-1E1D8F602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518" y="774167"/>
            <a:ext cx="5813611" cy="446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64276"/>
      </p:ext>
    </p:extLst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imeline&#10;&#10;Description automatically generated">
            <a:extLst>
              <a:ext uri="{FF2B5EF4-FFF2-40B4-BE49-F238E27FC236}">
                <a16:creationId xmlns:a16="http://schemas.microsoft.com/office/drawing/2014/main" id="{8368BBB7-196A-44BA-849E-3036BBBA8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048" y="592266"/>
            <a:ext cx="7404845" cy="567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4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ext&#10;&#10;Description automatically generated">
            <a:extLst>
              <a:ext uri="{FF2B5EF4-FFF2-40B4-BE49-F238E27FC236}">
                <a16:creationId xmlns:a16="http://schemas.microsoft.com/office/drawing/2014/main" id="{6F02D5E5-D54E-4EC6-8DF2-CE1418B58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107" y="565984"/>
            <a:ext cx="10329580" cy="554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454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ext, chat or text message&#10;&#10;Description automatically generated">
            <a:extLst>
              <a:ext uri="{FF2B5EF4-FFF2-40B4-BE49-F238E27FC236}">
                <a16:creationId xmlns:a16="http://schemas.microsoft.com/office/drawing/2014/main" id="{09552BB8-900A-4DFE-AEA1-B14DB2709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732" y="71718"/>
            <a:ext cx="5466243" cy="672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9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11">
            <a:extLst>
              <a:ext uri="{FF2B5EF4-FFF2-40B4-BE49-F238E27FC236}">
                <a16:creationId xmlns:a16="http://schemas.microsoft.com/office/drawing/2014/main" id="{139AB947-785D-482B-A71B-C1C825A2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0" name="Freeform: Shape 13">
            <a:extLst>
              <a:ext uri="{FF2B5EF4-FFF2-40B4-BE49-F238E27FC236}">
                <a16:creationId xmlns:a16="http://schemas.microsoft.com/office/drawing/2014/main" id="{468A839C-B241-4F23-9A1D-CBCAFE6F5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1" name="Freeform: Shape 15">
            <a:extLst>
              <a:ext uri="{FF2B5EF4-FFF2-40B4-BE49-F238E27FC236}">
                <a16:creationId xmlns:a16="http://schemas.microsoft.com/office/drawing/2014/main" id="{AF68CAD5-0452-48EC-94D8-91ED8F5EB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E29D9-8CED-41E3-88A1-F01E48D1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37176" cy="1170432"/>
          </a:xfrm>
        </p:spPr>
        <p:txBody>
          <a:bodyPr anchor="b">
            <a:normAutofit/>
          </a:bodyPr>
          <a:lstStyle/>
          <a:p>
            <a:r>
              <a:rPr lang="en-US" sz="3400"/>
              <a:t>Sensors</a:t>
            </a:r>
          </a:p>
        </p:txBody>
      </p:sp>
      <p:sp>
        <p:nvSpPr>
          <p:cNvPr id="62" name="Rectangle 17">
            <a:extLst>
              <a:ext uri="{FF2B5EF4-FFF2-40B4-BE49-F238E27FC236}">
                <a16:creationId xmlns:a16="http://schemas.microsoft.com/office/drawing/2014/main" id="{F89F292F-513F-4E95-9E51-6B736F17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19">
            <a:extLst>
              <a:ext uri="{FF2B5EF4-FFF2-40B4-BE49-F238E27FC236}">
                <a16:creationId xmlns:a16="http://schemas.microsoft.com/office/drawing/2014/main" id="{13A52E0E-6908-496E-BB67-DDBF1EEC3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3627-F872-4D89-8124-DC6F1F07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4600"/>
            <a:ext cx="4837176" cy="36667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b="1"/>
              <a:t>1. Fire/CO detection</a:t>
            </a:r>
            <a:r>
              <a:rPr lang="en-US" sz="1800"/>
              <a:t> 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2. Leak/moisture detection</a:t>
            </a:r>
            <a:r>
              <a:rPr lang="en-US" sz="1800"/>
              <a:t> 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3. Window &amp; door open and close</a:t>
            </a:r>
            <a:r>
              <a:rPr lang="en-US" sz="1800"/>
              <a:t> 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4. Video doorbell</a:t>
            </a:r>
            <a:endParaRPr lang="en-US" sz="1800"/>
          </a:p>
        </p:txBody>
      </p:sp>
      <p:pic>
        <p:nvPicPr>
          <p:cNvPr id="6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51402B11-6C0A-4262-946E-55CF9B86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004" y="585216"/>
            <a:ext cx="2340864" cy="2340864"/>
          </a:xfrm>
          <a:prstGeom prst="rect">
            <a:avLst/>
          </a:prstGeom>
        </p:spPr>
      </p:pic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B925F2FB-7BCC-4D45-B5EF-538A59FDD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357" y="585216"/>
            <a:ext cx="2457600" cy="2340864"/>
          </a:xfrm>
          <a:prstGeom prst="rect">
            <a:avLst/>
          </a:prstGeom>
        </p:spPr>
      </p:pic>
      <p:pic>
        <p:nvPicPr>
          <p:cNvPr id="7" name="Picture 7" descr="A picture containing room, shirt, computer&#10;&#10;Description automatically generated">
            <a:extLst>
              <a:ext uri="{FF2B5EF4-FFF2-40B4-BE49-F238E27FC236}">
                <a16:creationId xmlns:a16="http://schemas.microsoft.com/office/drawing/2014/main" id="{D58B2698-147E-4B4D-A76E-67792304D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217" y="3430900"/>
            <a:ext cx="5225492" cy="293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3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2">
            <a:extLst>
              <a:ext uri="{FF2B5EF4-FFF2-40B4-BE49-F238E27FC236}">
                <a16:creationId xmlns:a16="http://schemas.microsoft.com/office/drawing/2014/main" id="{139AB947-785D-482B-A71B-C1C825A2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14">
            <a:extLst>
              <a:ext uri="{FF2B5EF4-FFF2-40B4-BE49-F238E27FC236}">
                <a16:creationId xmlns:a16="http://schemas.microsoft.com/office/drawing/2014/main" id="{468A839C-B241-4F23-9A1D-CBCAFE6F5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16">
            <a:extLst>
              <a:ext uri="{FF2B5EF4-FFF2-40B4-BE49-F238E27FC236}">
                <a16:creationId xmlns:a16="http://schemas.microsoft.com/office/drawing/2014/main" id="{AF68CAD5-0452-48EC-94D8-91ED8F5EB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E29D9-8CED-41E3-88A1-F01E48D1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37176" cy="1170432"/>
          </a:xfrm>
        </p:spPr>
        <p:txBody>
          <a:bodyPr anchor="b">
            <a:normAutofit/>
          </a:bodyPr>
          <a:lstStyle/>
          <a:p>
            <a:r>
              <a:rPr lang="en-US" sz="3400"/>
              <a:t>Sensors</a:t>
            </a:r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F89F292F-513F-4E95-9E51-6B736F17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13A52E0E-6908-496E-BB67-DDBF1EEC3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3627-F872-4D89-8124-DC6F1F07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4600"/>
            <a:ext cx="4837176" cy="36667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b="1"/>
              <a:t>5. Smart thermostat</a:t>
            </a:r>
            <a:r>
              <a:rPr lang="en-US" sz="1800"/>
              <a:t> 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6. Motion sensors</a:t>
            </a:r>
            <a:r>
              <a:rPr lang="en-US" sz="1800"/>
              <a:t> 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7. Smart garage door</a:t>
            </a:r>
            <a:r>
              <a:rPr lang="en-US" sz="1800"/>
              <a:t> 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8. Intercom/hub</a:t>
            </a:r>
            <a:r>
              <a:rPr lang="en-US" sz="1800"/>
              <a:t> </a:t>
            </a:r>
          </a:p>
        </p:txBody>
      </p:sp>
      <p:pic>
        <p:nvPicPr>
          <p:cNvPr id="5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2BF6106-80DA-4F97-AE93-B663D41CB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560" y="585216"/>
            <a:ext cx="2305751" cy="2340864"/>
          </a:xfrm>
          <a:prstGeom prst="rect">
            <a:avLst/>
          </a:prstGeom>
        </p:spPr>
      </p:pic>
      <p:pic>
        <p:nvPicPr>
          <p:cNvPr id="6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ED9B0F89-F371-4D62-A90F-EB36C74A7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725" y="585216"/>
            <a:ext cx="2340864" cy="2340864"/>
          </a:xfrm>
          <a:prstGeom prst="rect">
            <a:avLst/>
          </a:prstGeom>
        </p:spPr>
      </p:pic>
      <p:pic>
        <p:nvPicPr>
          <p:cNvPr id="8" name="Picture 8" descr="A picture containing baseball&#10;&#10;Description automatically generated">
            <a:extLst>
              <a:ext uri="{FF2B5EF4-FFF2-40B4-BE49-F238E27FC236}">
                <a16:creationId xmlns:a16="http://schemas.microsoft.com/office/drawing/2014/main" id="{A0D851D2-7B17-4750-AD62-26A880057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250" y="3360792"/>
            <a:ext cx="4417836" cy="3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57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3C57-D300-4EC2-913A-5B6E03EE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</a:t>
            </a:r>
            <a:r>
              <a:rPr lang="en-DE"/>
              <a:t>d</a:t>
            </a:r>
            <a:r>
              <a:rPr lang="en-GB"/>
              <a:t>v</a:t>
            </a:r>
            <a:r>
              <a:rPr lang="en-DE"/>
              <a:t>a</a:t>
            </a:r>
            <a:r>
              <a:rPr lang="en-GB"/>
              <a:t>n</a:t>
            </a:r>
            <a:r>
              <a:rPr lang="en-DE"/>
              <a:t>t</a:t>
            </a:r>
            <a:r>
              <a:rPr lang="en-GB"/>
              <a:t>a</a:t>
            </a:r>
            <a:r>
              <a:rPr lang="en-DE"/>
              <a:t>g</a:t>
            </a:r>
            <a:r>
              <a:rPr lang="en-GB"/>
              <a:t>e</a:t>
            </a:r>
            <a:r>
              <a:rPr lang="en-DE"/>
              <a:t>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B2B11-0B69-419F-9B14-A5B81822FFD8}"/>
              </a:ext>
            </a:extLst>
          </p:cNvPr>
          <p:cNvSpPr txBox="1"/>
          <p:nvPr/>
        </p:nvSpPr>
        <p:spPr>
          <a:xfrm>
            <a:off x="611241" y="2092682"/>
            <a:ext cx="10041963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Convenience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. (Control Everything Fast &amp; 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s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 i="0">
              <a:effectLst/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Flexi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b</a:t>
            </a:r>
            <a:r>
              <a:rPr lang="en-DE" sz="2000" err="1"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l</a:t>
            </a:r>
            <a:r>
              <a:rPr lang="en-DE" sz="2000" err="1"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y. (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V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GB" sz="2000" err="1"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c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C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n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r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l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, Apps)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Security &amp; Safety. (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S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m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r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D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r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b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l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 i="0">
              <a:effectLst/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Cost Sa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v</a:t>
            </a:r>
            <a:r>
              <a:rPr lang="en-DE" sz="2000" err="1"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n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g.(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S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m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r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L</a:t>
            </a:r>
            <a:r>
              <a:rPr lang="en-DE" sz="2000" err="1"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g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h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,  Automated heating system)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Task Completing.(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DE" sz="2000" i="0" err="1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u</a:t>
            </a:r>
            <a:r>
              <a:rPr lang="en-DE" sz="2000" err="1">
                <a:latin typeface="Arial Black" panose="020B0A04020102020204" pitchFamily="34" charset="0"/>
                <a:cs typeface="Aharoni" panose="02010803020104030203" pitchFamily="2" charset="-79"/>
              </a:rPr>
              <a:t>tomated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V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ac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u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um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 i="0">
              <a:effectLst/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Provide C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r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.(Smart Caring Home)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Available Application.(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V</a:t>
            </a:r>
            <a:r>
              <a:rPr lang="en-DE" sz="2000" i="0" err="1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arious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 App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s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 for </a:t>
            </a:r>
            <a:r>
              <a:rPr lang="en-DE" sz="2000" i="0" err="1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Montor</a:t>
            </a:r>
            <a:r>
              <a:rPr lang="en-GB" sz="2000" i="0" err="1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n</a:t>
            </a:r>
            <a:r>
              <a:rPr lang="en-GB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g</a:t>
            </a:r>
            <a:r>
              <a:rPr lang="en-DE" sz="2000" i="0"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)</a:t>
            </a:r>
          </a:p>
          <a:p>
            <a:r>
              <a:rPr lang="en-GB" b="0" i="0">
                <a:solidFill>
                  <a:srgbClr val="6F6D6B"/>
                </a:solidFill>
                <a:effectLst/>
                <a:latin typeface="Helvetica Neue"/>
              </a:rPr>
              <a:t> 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445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532C-D3D8-449C-AD72-2FD28CF71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</a:t>
            </a:r>
            <a:r>
              <a:rPr lang="en-DE" err="1"/>
              <a:t>i</a:t>
            </a:r>
            <a:r>
              <a:rPr lang="en-GB"/>
              <a:t>s</a:t>
            </a:r>
            <a:r>
              <a:rPr lang="en-DE"/>
              <a:t>a</a:t>
            </a:r>
            <a:r>
              <a:rPr lang="en-GB"/>
              <a:t>d</a:t>
            </a:r>
            <a:r>
              <a:rPr lang="en-DE"/>
              <a:t>v</a:t>
            </a:r>
            <a:r>
              <a:rPr lang="en-GB"/>
              <a:t>a</a:t>
            </a:r>
            <a:r>
              <a:rPr lang="en-DE"/>
              <a:t>n</a:t>
            </a:r>
            <a:r>
              <a:rPr lang="en-GB"/>
              <a:t>t</a:t>
            </a:r>
            <a:r>
              <a:rPr lang="en-DE"/>
              <a:t>a</a:t>
            </a:r>
            <a:r>
              <a:rPr lang="en-GB"/>
              <a:t>g</a:t>
            </a:r>
            <a:r>
              <a:rPr lang="en-DE"/>
              <a:t>e</a:t>
            </a:r>
            <a:r>
              <a:rPr lang="en-GB"/>
              <a:t>s</a:t>
            </a:r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4EEAD-3DAA-4F07-A717-8283F3D9F329}"/>
              </a:ext>
            </a:extLst>
          </p:cNvPr>
          <p:cNvSpPr txBox="1"/>
          <p:nvPr/>
        </p:nvSpPr>
        <p:spPr>
          <a:xfrm>
            <a:off x="565150" y="2616041"/>
            <a:ext cx="1142858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Security Concern.(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H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c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k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r 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g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GB" sz="2000" err="1"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n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g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Ac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c</a:t>
            </a:r>
            <a:r>
              <a:rPr lang="en-DE" sz="2000" err="1">
                <a:latin typeface="Arial Black" panose="020B0A04020102020204" pitchFamily="34" charset="0"/>
                <a:cs typeface="Aharoni" panose="02010803020104030203" pitchFamily="2" charset="-79"/>
              </a:rPr>
              <a:t>ess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, Data S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l</a:t>
            </a:r>
            <a:r>
              <a:rPr lang="en-GB" sz="2000" err="1"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n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g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N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o Standard 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S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y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s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m 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f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r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h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G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d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g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s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Loss of control system. (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C</a:t>
            </a:r>
            <a:r>
              <a:rPr lang="en-DE" sz="2000" err="1">
                <a:latin typeface="Arial Black" panose="020B0A04020102020204" pitchFamily="34" charset="0"/>
                <a:cs typeface="Aharoni" panose="02010803020104030203" pitchFamily="2" charset="-79"/>
              </a:rPr>
              <a:t>ontrol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Device lost or N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et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w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r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k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f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u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l</a:t>
            </a:r>
            <a:r>
              <a:rPr lang="en-GB" sz="2000"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>
                <a:latin typeface="Arial Black" panose="020B0A04020102020204" pitchFamily="34" charset="0"/>
                <a:cs typeface="Aharoni" panose="02010803020104030203" pitchFamily="2" charset="-79"/>
              </a:rPr>
              <a:t>Private Privacy 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invasion</a:t>
            </a:r>
            <a:r>
              <a:rPr lang="en-DE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.(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DE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d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DE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n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 b="0" i="0" err="1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y 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h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eft, 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S</a:t>
            </a:r>
            <a:r>
              <a:rPr lang="en-DE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m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DE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r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en-GB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S</a:t>
            </a:r>
            <a:r>
              <a:rPr lang="en-DE" sz="2000" b="0" i="0">
                <a:solidFill>
                  <a:srgbClr val="202124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rPr>
              <a:t>p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DE" sz="2000" err="1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ker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 always Listening!)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 b="0" i="0">
              <a:solidFill>
                <a:srgbClr val="202124"/>
              </a:solidFill>
              <a:effectLst/>
              <a:highlight>
                <a:srgbClr val="000000"/>
              </a:highlight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Power &amp; Technology failure.(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w</a:t>
            </a:r>
            <a:r>
              <a:rPr lang="en-DE" sz="2000" err="1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er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 Outage)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DE" sz="2000">
              <a:solidFill>
                <a:srgbClr val="202124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DE" sz="2000" err="1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Internali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z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a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 err="1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n. (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C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n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n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e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c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t</a:t>
            </a:r>
            <a:r>
              <a:rPr lang="en-DE" sz="2000" err="1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i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o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n </a:t>
            </a:r>
            <a:r>
              <a:rPr lang="en-GB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d</a:t>
            </a:r>
            <a:r>
              <a:rPr lang="en-DE" sz="2000" err="1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ifficulty</a:t>
            </a:r>
            <a:r>
              <a:rPr lang="en-DE" sz="2000">
                <a:solidFill>
                  <a:srgbClr val="202124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, Slow Connection)</a:t>
            </a:r>
            <a:endParaRPr lang="en-DE" sz="2000"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b="1" i="0">
              <a:solidFill>
                <a:srgbClr val="3A3A3A"/>
              </a:solidFill>
              <a:effectLst/>
              <a:latin typeface="-apple-system"/>
            </a:endParaRPr>
          </a:p>
          <a:p>
            <a:br>
              <a:rPr lang="en-GB"/>
            </a:b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83467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9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table, device&#10;&#10;Description automatically generated">
            <a:extLst>
              <a:ext uri="{FF2B5EF4-FFF2-40B4-BE49-F238E27FC236}">
                <a16:creationId xmlns:a16="http://schemas.microsoft.com/office/drawing/2014/main" id="{690495FC-0008-4FDF-B99D-613E07DE5E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58" name="Rectangle 51">
            <a:extLst>
              <a:ext uri="{FF2B5EF4-FFF2-40B4-BE49-F238E27FC236}">
                <a16:creationId xmlns:a16="http://schemas.microsoft.com/office/drawing/2014/main" id="{EFAEC92A-2230-45B0-A12F-07F9F9EA4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bg1"/>
              </a:gs>
              <a:gs pos="35000">
                <a:schemeClr val="bg1">
                  <a:alpha val="76000"/>
                </a:schemeClr>
              </a:gs>
              <a:gs pos="19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0849F-3672-4FB1-A17A-2E36EECE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/>
              <a:t>Security</a:t>
            </a:r>
          </a:p>
        </p:txBody>
      </p:sp>
      <p:sp>
        <p:nvSpPr>
          <p:cNvPr id="59" name="Rectangle 5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Content Placeholder 8">
            <a:extLst>
              <a:ext uri="{FF2B5EF4-FFF2-40B4-BE49-F238E27FC236}">
                <a16:creationId xmlns:a16="http://schemas.microsoft.com/office/drawing/2014/main" id="{F8B2B5D6-9226-483A-BB68-B11B3E269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/>
              <a:t>Encrypted network.</a:t>
            </a:r>
          </a:p>
          <a:p>
            <a:pPr>
              <a:lnSpc>
                <a:spcPct val="100000"/>
              </a:lnSpc>
            </a:pPr>
            <a:r>
              <a:rPr lang="en-US" sz="1700"/>
              <a:t>Improved Surveillance</a:t>
            </a:r>
          </a:p>
          <a:p>
            <a:pPr>
              <a:lnSpc>
                <a:spcPct val="100000"/>
              </a:lnSpc>
            </a:pPr>
            <a:r>
              <a:rPr lang="en-US" sz="1700"/>
              <a:t>Face recognition</a:t>
            </a:r>
          </a:p>
          <a:p>
            <a:pPr>
              <a:lnSpc>
                <a:spcPct val="100000"/>
              </a:lnSpc>
            </a:pPr>
            <a:r>
              <a:rPr lang="en-US" sz="1700"/>
              <a:t>Fire detection and control system</a:t>
            </a:r>
          </a:p>
          <a:p>
            <a:pPr>
              <a:lnSpc>
                <a:spcPct val="100000"/>
              </a:lnSpc>
            </a:pPr>
            <a:r>
              <a:rPr lang="en-US" sz="1700"/>
              <a:t>Control energy waste</a:t>
            </a:r>
          </a:p>
          <a:p>
            <a:pPr>
              <a:lnSpc>
                <a:spcPct val="100000"/>
              </a:lnSpc>
            </a:pPr>
            <a:r>
              <a:rPr lang="en-US" sz="1700"/>
              <a:t>Prevent Unauthorized access.</a:t>
            </a:r>
          </a:p>
          <a:p>
            <a:pPr>
              <a:lnSpc>
                <a:spcPct val="100000"/>
              </a:lnSpc>
            </a:pPr>
            <a:r>
              <a:rPr lang="en-US" sz="1700"/>
              <a:t>Alert owner if there is a suspicious activities </a:t>
            </a:r>
          </a:p>
          <a:p>
            <a:pPr>
              <a:lnSpc>
                <a:spcPct val="10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47779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3E81-0123-46D7-BEB6-CAC7818B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675312"/>
          </a:xfrm>
        </p:spPr>
        <p:txBody>
          <a:bodyPr/>
          <a:lstStyle/>
          <a:p>
            <a:r>
              <a:rPr lang="en-GB"/>
              <a:t>R</a:t>
            </a:r>
            <a:r>
              <a:rPr lang="en-DE"/>
              <a:t>e</a:t>
            </a:r>
            <a:r>
              <a:rPr lang="en-GB"/>
              <a:t>f</a:t>
            </a:r>
            <a:r>
              <a:rPr lang="en-DE"/>
              <a:t>e</a:t>
            </a:r>
            <a:r>
              <a:rPr lang="en-GB"/>
              <a:t>r</a:t>
            </a:r>
            <a:r>
              <a:rPr lang="en-DE"/>
              <a:t>e</a:t>
            </a:r>
            <a:r>
              <a:rPr lang="en-GB"/>
              <a:t>c</a:t>
            </a:r>
            <a:r>
              <a:rPr lang="en-DE"/>
              <a:t>n</a:t>
            </a:r>
            <a:r>
              <a:rPr lang="en-GB"/>
              <a:t>c</a:t>
            </a:r>
            <a:r>
              <a:rPr lang="en-DE"/>
              <a:t>e</a:t>
            </a:r>
            <a:r>
              <a:rPr lang="en-GB"/>
              <a:t>s</a:t>
            </a:r>
            <a:endParaRPr lang="en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8877A-DAD0-4B99-994B-99B14775F91C}"/>
              </a:ext>
            </a:extLst>
          </p:cNvPr>
          <p:cNvSpPr txBox="1"/>
          <p:nvPr/>
        </p:nvSpPr>
        <p:spPr>
          <a:xfrm>
            <a:off x="395860" y="3425154"/>
            <a:ext cx="12065096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GB">
              <a:solidFill>
                <a:srgbClr val="6611CC"/>
              </a:solidFill>
              <a:latin typeface="Roboto"/>
            </a:endParaRPr>
          </a:p>
          <a:p>
            <a:r>
              <a:rPr lang="en-GB" b="0" i="0">
                <a:solidFill>
                  <a:srgbClr val="6611CC"/>
                </a:solidFill>
                <a:effectLst/>
                <a:latin typeface="Roboto"/>
                <a:hlinkClick r:id="rId2"/>
              </a:rPr>
              <a:t>https://www.investopedia.com/terms/s/smart-home.asp</a:t>
            </a:r>
            <a:br>
              <a:rPr lang="en-GB"/>
            </a:br>
            <a:r>
              <a:rPr lang="en-GB" b="0" i="0">
                <a:solidFill>
                  <a:srgbClr val="6611CC"/>
                </a:solidFill>
                <a:effectLst/>
                <a:latin typeface="Roboto"/>
                <a:hlinkClick r:id="rId3"/>
              </a:rPr>
              <a:t>https://www.androidauthority.com/what-is-a-smart-home-806483/</a:t>
            </a:r>
            <a:br>
              <a:rPr lang="en-GB"/>
            </a:br>
            <a:r>
              <a:rPr lang="en-GB" b="0" i="0">
                <a:solidFill>
                  <a:srgbClr val="6611CC"/>
                </a:solidFill>
                <a:effectLst/>
                <a:latin typeface="Roboto"/>
                <a:hlinkClick r:id="rId4"/>
              </a:rPr>
              <a:t>https://home.howstuffworks.com/smart-home.htm#pt3</a:t>
            </a:r>
            <a:br>
              <a:rPr lang="en-GB"/>
            </a:br>
            <a:r>
              <a:rPr lang="en-GB" b="0" i="0">
                <a:solidFill>
                  <a:srgbClr val="6611CC"/>
                </a:solidFill>
                <a:effectLst/>
                <a:latin typeface="Roboto"/>
                <a:hlinkClick r:id="rId5"/>
              </a:rPr>
              <a:t>https://www.homeridersystems.com/home-automation/what-is-the-risk-associated-with-smart-technology/</a:t>
            </a:r>
            <a:br>
              <a:rPr lang="en-GB"/>
            </a:br>
            <a:r>
              <a:rPr lang="en-GB" b="0" i="0">
                <a:solidFill>
                  <a:srgbClr val="6611CC"/>
                </a:solidFill>
                <a:effectLst/>
                <a:latin typeface="Roboto"/>
                <a:hlinkClick r:id="rId6"/>
              </a:rPr>
              <a:t>https://bluespeedav.com/blog/item/7-greatest-advantages-of-smart-home-automation</a:t>
            </a:r>
          </a:p>
          <a:p>
            <a:r>
              <a:rPr lang="en-GB">
                <a:ea typeface="+mn-lt"/>
                <a:cs typeface="+mn-lt"/>
                <a:hlinkClick r:id="rId7"/>
              </a:rPr>
              <a:t>https://www.ibm.com/blogs/internet-of-things/sensors-smart-home/</a:t>
            </a:r>
            <a:endParaRPr lang="en-GB"/>
          </a:p>
          <a:p>
            <a:r>
              <a:rPr lang="en-GB">
                <a:ea typeface="+mn-lt"/>
                <a:cs typeface="+mn-lt"/>
                <a:hlinkClick r:id="rId8"/>
              </a:rPr>
              <a:t>http://clipart-library.com/</a:t>
            </a:r>
            <a:endParaRPr lang="en-GB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  <a:hlinkClick r:id="rId9"/>
              </a:rPr>
              <a:t>https://www.cleanpng.com/</a:t>
            </a:r>
            <a:endParaRPr lang="en-GB"/>
          </a:p>
          <a:p>
            <a:r>
              <a:rPr lang="en-GB">
                <a:ea typeface="+mn-lt"/>
                <a:cs typeface="+mn-lt"/>
                <a:hlinkClick r:id="rId10"/>
              </a:rPr>
              <a:t>https://www.carolinacountry.com/carolina-country-feed/7-install-a-smart-thermostat</a:t>
            </a:r>
            <a:endParaRPr lang="en-GB" u="sng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9F739-156E-4B83-9081-01BF5D4BC787}"/>
              </a:ext>
            </a:extLst>
          </p:cNvPr>
          <p:cNvSpPr txBox="1"/>
          <p:nvPr/>
        </p:nvSpPr>
        <p:spPr>
          <a:xfrm>
            <a:off x="395357" y="1444486"/>
            <a:ext cx="1015337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endParaRPr lang="en-US"/>
          </a:p>
          <a:p>
            <a:pPr algn="r"/>
            <a:endParaRPr lang="en-US"/>
          </a:p>
          <a:p>
            <a:r>
              <a:rPr lang="en-US">
                <a:ea typeface="+mn-lt"/>
                <a:cs typeface="+mn-lt"/>
              </a:rPr>
              <a:t>1. Harper, R. </a:t>
            </a:r>
            <a:r>
              <a:rPr lang="en-US" i="1">
                <a:ea typeface="+mn-lt"/>
                <a:cs typeface="+mn-lt"/>
              </a:rPr>
              <a:t>Inside the Smart Home</a:t>
            </a:r>
            <a:r>
              <a:rPr lang="en-US">
                <a:ea typeface="+mn-lt"/>
                <a:cs typeface="+mn-lt"/>
              </a:rPr>
              <a:t>; Springer Science &amp; Business Media, 2006.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2. Anon, 2020. </a:t>
            </a:r>
            <a:r>
              <a:rPr lang="en-US" i="1">
                <a:ea typeface="+mn-lt"/>
                <a:cs typeface="+mn-lt"/>
              </a:rPr>
              <a:t>https://readersdigest.de/at/wissen-tipps/haus-garten/item/was-im-smart-home-smart-werden-kann</a:t>
            </a:r>
            <a:r>
              <a:rPr lang="en-US">
                <a:ea typeface="+mn-lt"/>
                <a:cs typeface="+mn-lt"/>
              </a:rPr>
              <a:t>,</a:t>
            </a:r>
            <a:r>
              <a:rPr lang="en-US">
                <a:latin typeface="Neue Haas Grotesk Text Pro"/>
              </a:rPr>
              <a:t>   </a:t>
            </a:r>
          </a:p>
          <a:p>
            <a:r>
              <a:rPr lang="en-US">
                <a:ea typeface="+mn-lt"/>
                <a:cs typeface="+mn-lt"/>
              </a:rPr>
              <a:t>3.  Kft, L. </a:t>
            </a:r>
            <a:r>
              <a:rPr lang="en-US" err="1">
                <a:ea typeface="+mn-lt"/>
                <a:cs typeface="+mn-lt"/>
              </a:rPr>
              <a:t>Beleben</a:t>
            </a:r>
            <a:r>
              <a:rPr lang="en-US">
                <a:ea typeface="+mn-lt"/>
                <a:cs typeface="+mn-lt"/>
              </a:rPr>
              <a:t> Sie den Platz! </a:t>
            </a:r>
            <a:r>
              <a:rPr lang="en-US">
                <a:ea typeface="+mn-lt"/>
                <a:cs typeface="+mn-lt"/>
                <a:hlinkClick r:id="rId11"/>
              </a:rPr>
              <a:t>https://www.eotvoshaz.hu/</a:t>
            </a:r>
            <a:r>
              <a:rPr lang="en-US">
                <a:ea typeface="+mn-lt"/>
                <a:cs typeface="+mn-lt"/>
              </a:rPr>
              <a:t> (accessed Nov 18, 2020</a:t>
            </a:r>
            <a:endParaRPr lang="en-US"/>
          </a:p>
          <a:p>
            <a:endParaRPr lang="en-US">
              <a:latin typeface="Neue Haas Grotesk Text Pro"/>
            </a:endParaRPr>
          </a:p>
          <a:p>
            <a:endParaRPr lang="en-US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784507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ED545C-25C7-419A-B760-3DFA9E5ACEE4}"/>
              </a:ext>
            </a:extLst>
          </p:cNvPr>
          <p:cNvSpPr txBox="1"/>
          <p:nvPr/>
        </p:nvSpPr>
        <p:spPr>
          <a:xfrm>
            <a:off x="1138517" y="981635"/>
            <a:ext cx="1101314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4. </a:t>
            </a:r>
            <a:r>
              <a:rPr lang="en-GB" dirty="0" err="1"/>
              <a:t>Micheal</a:t>
            </a:r>
            <a:r>
              <a:rPr lang="en-GB" dirty="0"/>
              <a:t>  R. Miller  Jun 2017 https://learning.oreilly.com/library/view/my-smart-home/9780134752792/ch14.html​</a:t>
            </a:r>
          </a:p>
          <a:p>
            <a:endParaRPr lang="en-GB" dirty="0"/>
          </a:p>
          <a:p>
            <a:r>
              <a:rPr lang="en-GB" dirty="0"/>
              <a:t>5.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M. Schiefer, "Smart Home Definition and Security Threats,"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2015 Ninth International Conference on IT Security Incident Management &amp; IT Forensics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Magdeburg, 2015, pp. 114-118,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doi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10.1109/IMF.2015.17.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404956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27311C"/>
      </a:dk2>
      <a:lt2>
        <a:srgbClr val="F0F1F3"/>
      </a:lt2>
      <a:accent1>
        <a:srgbClr val="C3954D"/>
      </a:accent1>
      <a:accent2>
        <a:srgbClr val="A3A637"/>
      </a:accent2>
      <a:accent3>
        <a:srgbClr val="80AF45"/>
      </a:accent3>
      <a:accent4>
        <a:srgbClr val="4BB13B"/>
      </a:accent4>
      <a:accent5>
        <a:srgbClr val="47B666"/>
      </a:accent5>
      <a:accent6>
        <a:srgbClr val="3BB18D"/>
      </a:accent6>
      <a:hlink>
        <a:srgbClr val="4777C1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-apple-system</vt:lpstr>
      <vt:lpstr>Arial</vt:lpstr>
      <vt:lpstr>Arial Black</vt:lpstr>
      <vt:lpstr>Calibri</vt:lpstr>
      <vt:lpstr>Helvetica Neue</vt:lpstr>
      <vt:lpstr>Neue Haas Grotesk Text Pro</vt:lpstr>
      <vt:lpstr>Roboto</vt:lpstr>
      <vt:lpstr>Wingdings</vt:lpstr>
      <vt:lpstr>AccentBoxVTI</vt:lpstr>
      <vt:lpstr>Smart Home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Sensors</vt:lpstr>
      <vt:lpstr>Sensors</vt:lpstr>
      <vt:lpstr>Advantages</vt:lpstr>
      <vt:lpstr>Disadvantages</vt:lpstr>
      <vt:lpstr>Security</vt:lpstr>
      <vt:lpstr>Referecnces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</dc:title>
  <dc:creator>Asadujaman Nur</dc:creator>
  <cp:lastModifiedBy>Asadujaman Nur</cp:lastModifiedBy>
  <cp:revision>1</cp:revision>
  <dcterms:created xsi:type="dcterms:W3CDTF">2020-11-19T09:36:35Z</dcterms:created>
  <dcterms:modified xsi:type="dcterms:W3CDTF">2020-11-19T10:23:58Z</dcterms:modified>
</cp:coreProperties>
</file>